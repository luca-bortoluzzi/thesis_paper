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77240"/>
            <a:ext cx="146304" cy="5193792"/>
          </a:xfrm>
          <a:prstGeom prst="rect">
            <a:avLst/>
          </a:prstGeom>
          <a:solidFill>
            <a:srgbClr val="49D4D4"/>
          </a:solidFill>
          <a:ln w="12700">
            <a:solidFill>
              <a:srgbClr val="49D4D4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1069848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49D4D4"/>
                </a:solidFill>
                <a:latin typeface="Aptos"/>
                <a:ea typeface="Aptos"/>
                <a:cs typeface="Aptos"/>
              </a:rPr>
              <a:t>BACHELOR’S DEGREE IN COMPUTER SCIENCE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069848" y="164592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and Implementation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 a Simple Kathará-Based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1097280" y="417880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E8EFF8"/>
                </a:solidFill>
                <a:latin typeface="Aptos"/>
                <a:ea typeface="Aptos"/>
                <a:cs typeface="Aptos"/>
              </a:rPr>
              <a:t>Network emulation  •  Automated testing  •  DoS simulation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1097280" y="528523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7BDD4"/>
                </a:solidFill>
                <a:latin typeface="Aptos"/>
                <a:ea typeface="Aptos"/>
                <a:cs typeface="Aptos"/>
              </a:rPr>
              <a:t>Luca Bortoluzzi  ID Student: 1097723 |  Supervisor: Prof. Gianluca Rizzo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A7BDD4"/>
                </a:solidFill>
                <a:latin typeface="Aptos"/>
                <a:ea typeface="Aptos"/>
                <a:cs typeface="Aptos"/>
              </a:rPr>
              <a:t>University of Turin  •  Academic Year 2025/2026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100" b="1">
                <a:solidFill>
                  <a:srgbClr val="2F81E5"/>
                </a:solidFill>
                <a:latin typeface="Aptos"/>
              </a:defRPr>
            </a:pPr>
            <a:r>
              <a:rPr/>
              <a:t>FOUNDATIONS  /  NETWORK EMULATION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3100" b="1">
                <a:solidFill>
                  <a:srgbClr val="0F1D30"/>
                </a:solidFill>
                <a:latin typeface="Aptos"/>
              </a:defRPr>
            </a:pPr>
            <a:r>
              <a:rPr/>
              <a:t>What is Kathará?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10698480" cy="73152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2100" b="0">
                <a:solidFill>
                  <a:srgbClr val="0F1D30"/>
                </a:solidFill>
                <a:latin typeface="Aptos"/>
              </a:defRPr>
            </a:pPr>
            <a:r>
              <a:rPr/>
              <a:t>An open-source network emulation platform that uses Linux containers to create virtual network laboratories.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23744"/>
            <a:ext cx="5276088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23744"/>
            <a:ext cx="59436" cy="1152144"/>
          </a:xfrm>
          <a:prstGeom prst="rect">
            <a:avLst/>
          </a:prstGeom>
          <a:solidFill>
            <a:srgbClr val="27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1"/>
            <a:ext cx="4754880" cy="310896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700" b="1">
                <a:solidFill>
                  <a:srgbClr val="0F1D30"/>
                </a:solidFill>
                <a:latin typeface="Aptos"/>
              </a:defRPr>
            </a:pPr>
            <a:r>
              <a:rPr/>
              <a:t>Virtual network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63239"/>
            <a:ext cx="4736592" cy="484632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rPr/>
              <a:t>Emulate hosts, routers and servers as isolated containers.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523744"/>
            <a:ext cx="5276088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523744"/>
            <a:ext cx="59436" cy="1152144"/>
          </a:xfrm>
          <a:prstGeom prst="rect">
            <a:avLst/>
          </a:prstGeom>
          <a:solidFill>
            <a:srgbClr val="27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679191"/>
            <a:ext cx="4754880" cy="310896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700" b="1">
                <a:solidFill>
                  <a:srgbClr val="0F1D30"/>
                </a:solidFill>
                <a:latin typeface="Aptos"/>
              </a:defRPr>
            </a:pPr>
            <a:r>
              <a:rPr/>
              <a:t>Flexible topologies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3063239"/>
            <a:ext cx="4736592" cy="484632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rPr/>
              <a:t>Connect nodes through virtual links and collision domains.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41063"/>
            <a:ext cx="5276088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941063"/>
            <a:ext cx="59436" cy="1152144"/>
          </a:xfrm>
          <a:prstGeom prst="rect">
            <a:avLst/>
          </a:prstGeom>
          <a:solidFill>
            <a:srgbClr val="27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96511"/>
            <a:ext cx="4754880" cy="310896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700" b="1">
                <a:solidFill>
                  <a:srgbClr val="0F1D30"/>
                </a:solidFill>
                <a:latin typeface="Aptos"/>
              </a:defRPr>
            </a:pPr>
            <a:r>
              <a:rPr/>
              <a:t>Real network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80559"/>
            <a:ext cx="4736592" cy="484632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rPr/>
              <a:t>Run actual network protocols, routing daemons and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941063"/>
            <a:ext cx="5276088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941063"/>
            <a:ext cx="59436" cy="1152144"/>
          </a:xfrm>
          <a:prstGeom prst="rect">
            <a:avLst/>
          </a:prstGeom>
          <a:solidFill>
            <a:srgbClr val="27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096511"/>
            <a:ext cx="4754880" cy="310896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700" b="1">
                <a:solidFill>
                  <a:srgbClr val="0F1D30"/>
                </a:solidFill>
                <a:latin typeface="Aptos"/>
              </a:defRPr>
            </a:pPr>
            <a:r>
              <a:rPr/>
              <a:t>Educational and research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480559"/>
            <a:ext cx="4736592" cy="484632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300" b="0">
                <a:solidFill>
                  <a:srgbClr val="5B6C80"/>
                </a:solidFill>
                <a:latin typeface="Aptos"/>
              </a:defRPr>
            </a:pPr>
            <a:r>
              <a:rPr/>
              <a:t>Test networking concepts, configurations and security scenarios safely.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400" b="1">
                <a:solidFill>
                  <a:srgbClr val="0F1D30"/>
                </a:solidFill>
                <a:latin typeface="Aptos"/>
              </a:defRPr>
            </a:pPr>
            <a:r>
              <a:rPr/>
              <a:t>Kathará provides the emulation environment; the thesis framework automates its configuration and testing.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56248"/>
            <a:ext cx="8229600" cy="18288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800" b="0">
                <a:solidFill>
                  <a:srgbClr val="5B6C80"/>
                </a:solidFill>
                <a:latin typeface="Aptos"/>
              </a:defRPr>
            </a:pPr>
            <a:r>
              <a:rPr/>
              <a:t>LUCA BORTOLUZZI   •   UNIVERSITY OF TURIN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01 / MOTIVATION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Why this project?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03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3474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Shape 7"/>
          <p:cNvSpPr/>
          <p:nvPr/>
        </p:nvSpPr>
        <p:spPr>
          <a:xfrm>
            <a:off x="640080" y="1700784"/>
            <a:ext cx="68580" cy="3429000"/>
          </a:xfrm>
          <a:prstGeom prst="rect">
            <a:avLst/>
          </a:prstGeom>
          <a:solidFill>
            <a:srgbClr val="E76D75"/>
          </a:solidFill>
          <a:ln w="12700">
            <a:solidFill>
              <a:srgbClr val="E76D75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0" name="Text 8"/>
          <p:cNvSpPr/>
          <p:nvPr/>
        </p:nvSpPr>
        <p:spPr>
          <a:xfrm>
            <a:off x="877824" y="189280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Manual setup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877824" y="2322576"/>
            <a:ext cx="30175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Multiple configuration files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Repeated setup commands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Routing and addressing errors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4352544" y="1700784"/>
            <a:ext cx="3474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3" name="Shape 11"/>
          <p:cNvSpPr/>
          <p:nvPr/>
        </p:nvSpPr>
        <p:spPr>
          <a:xfrm>
            <a:off x="4352544" y="1700784"/>
            <a:ext cx="68580" cy="3429000"/>
          </a:xfrm>
          <a:prstGeom prst="rect">
            <a:avLst/>
          </a:prstGeom>
          <a:solidFill>
            <a:srgbClr val="F8BD68"/>
          </a:solidFill>
          <a:ln w="12700">
            <a:solidFill>
              <a:srgbClr val="F8BD68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4" name="Text 12"/>
          <p:cNvSpPr/>
          <p:nvPr/>
        </p:nvSpPr>
        <p:spPr>
          <a:xfrm>
            <a:off x="4590288" y="189280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Hard to modify and scale</a:t>
            </a:r>
          </a:p>
        </p:txBody>
      </p:sp>
      <p:sp>
        <p:nvSpPr>
          <p:cNvPr id="15" name="Text 13"/>
          <p:cNvSpPr/>
          <p:nvPr/>
        </p:nvSpPr>
        <p:spPr>
          <a:xfrm>
            <a:off x="4590288" y="2322576"/>
            <a:ext cx="30175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/>
              <a:t>Lab configuration scattered across files</a:t>
            </a:r>
          </a:p>
          <a:p/>
          <a:p>
            <a:r>
              <a:rPr/>
              <a:t>Manual updates across files</a:t>
            </a:r>
          </a:p>
          <a:p/>
          <a:p>
            <a:r>
              <a:rPr/>
              <a:t>Time spent debugging setup</a:t>
            </a:r>
          </a:p>
        </p:txBody>
      </p:sp>
      <p:sp>
        <p:nvSpPr>
          <p:cNvPr id="16" name="Shape 14"/>
          <p:cNvSpPr/>
          <p:nvPr/>
        </p:nvSpPr>
        <p:spPr>
          <a:xfrm>
            <a:off x="8065008" y="1700784"/>
            <a:ext cx="3474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7" name="Shape 15"/>
          <p:cNvSpPr/>
          <p:nvPr/>
        </p:nvSpPr>
        <p:spPr>
          <a:xfrm>
            <a:off x="8065008" y="1700784"/>
            <a:ext cx="68580" cy="3429000"/>
          </a:xfrm>
          <a:prstGeom prst="rect">
            <a:avLst/>
          </a:prstGeom>
          <a:solidFill>
            <a:srgbClr val="3BC39F"/>
          </a:solidFill>
          <a:ln w="12700">
            <a:solidFill>
              <a:srgbClr val="3BC39F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8" name="Text 16"/>
          <p:cNvSpPr/>
          <p:nvPr/>
        </p:nvSpPr>
        <p:spPr>
          <a:xfrm>
            <a:off x="8302752" y="189280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Need for testing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8302752" y="2322576"/>
            <a:ext cx="30175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Connectivity is not enough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Measure service behaviour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Compare normal and adverse conditions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749808" y="56052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Research objective: simplify laboratory creation without replacing Kathará.</a:t>
            </a:r>
            <a:endParaRPr lang="en-US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02 / FOUNDATIONS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Technology stack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05</a:t>
            </a:r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364845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Text 7"/>
          <p:cNvSpPr/>
          <p:nvPr/>
        </p:nvSpPr>
        <p:spPr>
          <a:xfrm>
            <a:off x="905256" y="196596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Kathará</a:t>
            </a:r>
            <a:endParaRPr lang="en-US" sz="2300"/>
          </a:p>
        </p:txBody>
      </p:sp>
      <p:sp>
        <p:nvSpPr>
          <p:cNvPr id="10" name="Text 8"/>
          <p:cNvSpPr/>
          <p:nvPr/>
        </p:nvSpPr>
        <p:spPr>
          <a:xfrm>
            <a:off x="905256" y="250545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8718C"/>
                </a:solidFill>
                <a:latin typeface="Aptos"/>
                <a:ea typeface="Aptos"/>
                <a:cs typeface="Aptos"/>
              </a:rPr>
              <a:t>Network emulation and lifecycle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562856" y="1737360"/>
            <a:ext cx="364845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2" name="Text 10"/>
          <p:cNvSpPr/>
          <p:nvPr/>
        </p:nvSpPr>
        <p:spPr>
          <a:xfrm>
            <a:off x="4809744" y="196596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Docker</a:t>
            </a:r>
            <a:endParaRPr lang="en-US" sz="2300"/>
          </a:p>
        </p:txBody>
      </p:sp>
      <p:sp>
        <p:nvSpPr>
          <p:cNvPr id="13" name="Text 11"/>
          <p:cNvSpPr/>
          <p:nvPr/>
        </p:nvSpPr>
        <p:spPr>
          <a:xfrm>
            <a:off x="4809744" y="250545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8718C"/>
                </a:solidFill>
                <a:latin typeface="Aptos"/>
                <a:ea typeface="Aptos"/>
                <a:cs typeface="Aptos"/>
              </a:rPr>
              <a:t>Containerised network nodes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467344" y="1737360"/>
            <a:ext cx="364845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5" name="Text 13"/>
          <p:cNvSpPr/>
          <p:nvPr/>
        </p:nvSpPr>
        <p:spPr>
          <a:xfrm>
            <a:off x="8714232" y="196596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YAML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8714232" y="250545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8718C"/>
                </a:solidFill>
                <a:latin typeface="Aptos"/>
                <a:ea typeface="Aptos"/>
                <a:cs typeface="Aptos"/>
              </a:rPr>
              <a:t>Declarative topology definition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58368" y="3611880"/>
            <a:ext cx="364845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8" name="Text 16"/>
          <p:cNvSpPr/>
          <p:nvPr/>
        </p:nvSpPr>
        <p:spPr>
          <a:xfrm>
            <a:off x="905256" y="384048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Python</a:t>
            </a:r>
            <a:endParaRPr lang="en-US" sz="2300"/>
          </a:p>
        </p:txBody>
      </p:sp>
      <p:sp>
        <p:nvSpPr>
          <p:cNvPr id="19" name="Text 17"/>
          <p:cNvSpPr/>
          <p:nvPr/>
        </p:nvSpPr>
        <p:spPr>
          <a:xfrm>
            <a:off x="905256" y="437997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8718C"/>
                </a:solidFill>
                <a:latin typeface="Aptos"/>
                <a:ea typeface="Aptos"/>
                <a:cs typeface="Aptos"/>
              </a:rPr>
              <a:t>Parsing, generation and testing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562856" y="3611880"/>
            <a:ext cx="364845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1" name="Text 19"/>
          <p:cNvSpPr/>
          <p:nvPr/>
        </p:nvSpPr>
        <p:spPr>
          <a:xfrm>
            <a:off x="4809744" y="384048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FRRouting</a:t>
            </a:r>
            <a:endParaRPr lang="en-US" sz="2300"/>
          </a:p>
        </p:txBody>
      </p:sp>
      <p:sp>
        <p:nvSpPr>
          <p:cNvPr id="22" name="Text 20"/>
          <p:cNvSpPr/>
          <p:nvPr/>
        </p:nvSpPr>
        <p:spPr>
          <a:xfrm>
            <a:off x="4809744" y="437997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8718C"/>
                </a:solidFill>
                <a:latin typeface="Aptos"/>
                <a:ea typeface="Aptos"/>
                <a:cs typeface="Aptos"/>
              </a:rPr>
              <a:t>Dynamic routing configuration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8467344" y="3611880"/>
            <a:ext cx="364845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4" name="Text 22"/>
          <p:cNvSpPr/>
          <p:nvPr/>
        </p:nvSpPr>
        <p:spPr>
          <a:xfrm>
            <a:off x="8714232" y="3840480"/>
            <a:ext cx="3200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CSV / Wireshark</a:t>
            </a:r>
            <a:endParaRPr lang="en-US" sz="2300"/>
          </a:p>
        </p:txBody>
      </p:sp>
      <p:sp>
        <p:nvSpPr>
          <p:cNvPr id="25" name="Text 23"/>
          <p:cNvSpPr/>
          <p:nvPr/>
        </p:nvSpPr>
        <p:spPr>
          <a:xfrm>
            <a:off x="8714232" y="437997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8718C"/>
                </a:solidFill>
                <a:latin typeface="Aptos"/>
                <a:ea typeface="Aptos"/>
                <a:cs typeface="Aptos"/>
              </a:rPr>
              <a:t>Metrics and traffic inspection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9144000" cy="27432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100" b="1">
                <a:solidFill>
                  <a:srgbClr val="2F81E5"/>
                </a:solidFill>
                <a:latin typeface="Aptos"/>
              </a:defRPr>
            </a:pPr>
            <a:r>
              <a:rPr/>
              <a:t>LABORATORY GENERATION  / 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25712" y="2093975"/>
            <a:ext cx="259552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13164" y="2176271"/>
            <a:ext cx="4251960" cy="2286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400" b="1">
                <a:solidFill>
                  <a:srgbClr val="0F1D30"/>
                </a:solidFill>
                <a:latin typeface="Aptos"/>
              </a:defRPr>
            </a:pPr>
            <a:r>
              <a:rPr/>
              <a:t>lab.conf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3164" y="2432303"/>
            <a:ext cx="4270248" cy="2286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100" b="0">
                <a:solidFill>
                  <a:srgbClr val="5B6C80"/>
                </a:solidFill>
                <a:latin typeface="Aptos"/>
              </a:defRPr>
            </a:pPr>
            <a:r>
              <a:rPr/>
              <a:t>Node-to-network associations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3164" y="2916935"/>
            <a:ext cx="2520186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3164" y="2999231"/>
            <a:ext cx="4251960" cy="2286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400" b="1">
                <a:solidFill>
                  <a:srgbClr val="0F1D30"/>
                </a:solidFill>
                <a:latin typeface="Aptos"/>
              </a:defRPr>
            </a:pPr>
            <a:r>
              <a:rPr/>
              <a:t>*.startup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3164" y="3255263"/>
            <a:ext cx="4270248" cy="2286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100" b="0">
                <a:solidFill>
                  <a:srgbClr val="5B6C80"/>
                </a:solidFill>
                <a:latin typeface="Aptos"/>
              </a:defRPr>
            </a:pPr>
            <a:r>
              <a:rPr/>
              <a:t>Interface addresses and gateways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3164" y="3712463"/>
            <a:ext cx="2602253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13164" y="3822191"/>
            <a:ext cx="4251960" cy="2286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400" b="1">
                <a:solidFill>
                  <a:srgbClr val="0F1D30"/>
                </a:solidFill>
                <a:latin typeface="Aptos"/>
              </a:defRPr>
            </a:pPr>
            <a:r>
              <a:rPr/>
              <a:t>FRRouting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3164" y="4078224"/>
            <a:ext cx="4270248" cy="22860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>
              <a:defRPr sz="1100" b="0">
                <a:solidFill>
                  <a:srgbClr val="5B6C80"/>
                </a:solidFill>
                <a:latin typeface="Aptos"/>
              </a:defRPr>
            </a:pPr>
            <a:r>
              <a:rPr/>
              <a:t>Routing configuration, if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248400"/>
            <a:ext cx="10789920" cy="281940"/>
          </a:xfrm>
          <a:prstGeom prst="rect">
            <a:avLst/>
          </a:prstGeom>
          <a:noFill/>
        </p:spPr>
        <p:txBody>
          <a:bodyPr wrap="square" lIns="36576" tIns="22860" rIns="36576">
            <a:spAutoFit/>
          </a:bodyPr>
          <a:lstStyle/>
          <a:p>
            <a:pPr algn="l">
              <a:defRPr sz="1100" b="0">
                <a:solidFill>
                  <a:srgbClr val="5B6C80"/>
                </a:solidFill>
                <a:latin typeface="Aptos"/>
              </a:defRPr>
            </a:pPr>
            <a:r>
              <a:rPr sz="1400">
                <a:solidFill>
                  <a:srgbClr val="0070C0"/>
                </a:solidFill>
                <a:latin typeface="Aptos"/>
              </a:rPr>
              <a:t>Example of the project directory for one Kathará laboratory.</a:t>
            </a:r>
            <a:endParaRPr>
              <a:solidFill>
                <a:srgbClr val="0070C0"/>
              </a:solidFill>
            </a:endParaRPr>
          </a:p>
        </p:txBody>
      </p:sp>
      <p:pic>
        <p:nvPicPr>
          <p:cNvPr id="110" name="Picture 14" descr="Laboratorio Kathará_ directory e topologia di rete (1)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2400" y="1126529"/>
            <a:ext cx="8855964" cy="4934125"/>
          </a:xfrm>
          <a:prstGeom prst="rect">
            <a:avLst/>
          </a:prstGeom>
        </p:spPr>
      </p:pic>
      <p:sp>
        <p:nvSpPr>
          <p:cNvPr id="111" name="TextBox 15"/>
          <p:cNvSpPr txBox="1"/>
          <p:nvPr/>
        </p:nvSpPr>
        <p:spPr>
          <a:xfrm>
            <a:off x="594360" y="585216"/>
            <a:ext cx="5364133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/>
              <a:t>Example of a Katharà laboratory</a:t>
            </a:r>
            <a:endParaRPr sz="2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03 / YAML INPUT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29768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Laboratory configurations change</a:t>
            </a:r>
            <a:endParaRPr lang="en-US" sz="3000" b="1">
              <a:solidFill>
                <a:srgbClr val="101E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07</a:t>
            </a:r>
          </a:p>
        </p:txBody>
      </p:sp>
      <p:sp>
        <p:nvSpPr>
          <p:cNvPr id="8" name="Shape 6"/>
          <p:cNvSpPr/>
          <p:nvPr/>
        </p:nvSpPr>
        <p:spPr>
          <a:xfrm>
            <a:off x="429768" y="1115568"/>
            <a:ext cx="5770133" cy="5410263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Text 7"/>
          <p:cNvSpPr/>
          <p:nvPr/>
        </p:nvSpPr>
        <p:spPr>
          <a:xfrm>
            <a:off x="594360" y="1189212"/>
            <a:ext cx="5182517" cy="321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pc_a 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type : host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interfaces 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- network : lan_a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  ip : 10.0.1.10/24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default_gateway : 10.0.1.1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r1: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type: router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interfaces: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- network: lan_a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  ip: 10.0.1.1/24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- network: lan_b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  ip: 10.0.2.1/24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pc_b 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type : host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interfaces 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- network : lan_b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    ip : 10.0.2.10/24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    default_gateway : 10.0.2.1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10528" y="1737360"/>
            <a:ext cx="4892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1" name="Shape 9"/>
          <p:cNvSpPr/>
          <p:nvPr/>
        </p:nvSpPr>
        <p:spPr>
          <a:xfrm>
            <a:off x="6510528" y="1737360"/>
            <a:ext cx="68580" cy="1188720"/>
          </a:xfrm>
          <a:prstGeom prst="rect">
            <a:avLst/>
          </a:prstGeom>
          <a:solidFill>
            <a:srgbClr val="49D4D4"/>
          </a:solidFill>
          <a:ln w="12700">
            <a:solidFill>
              <a:srgbClr val="49D4D4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2" name="Text 10"/>
          <p:cNvSpPr/>
          <p:nvPr/>
        </p:nvSpPr>
        <p:spPr>
          <a:xfrm>
            <a:off x="6748272" y="1929384"/>
            <a:ext cx="4434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Nodes and interfaces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6748272" y="235915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Hosts, routers, collision domains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6510528" y="3127248"/>
            <a:ext cx="4892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5" name="Shape 13"/>
          <p:cNvSpPr/>
          <p:nvPr/>
        </p:nvSpPr>
        <p:spPr>
          <a:xfrm>
            <a:off x="6510528" y="3127248"/>
            <a:ext cx="68580" cy="1188720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6" name="Text 14"/>
          <p:cNvSpPr/>
          <p:nvPr/>
        </p:nvSpPr>
        <p:spPr>
          <a:xfrm>
            <a:off x="6748272" y="3319272"/>
            <a:ext cx="4434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Network configuration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6748272" y="3749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IP addresses, gateways, routes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6510528" y="4517136"/>
            <a:ext cx="4892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9" name="Shape 17"/>
          <p:cNvSpPr/>
          <p:nvPr/>
        </p:nvSpPr>
        <p:spPr>
          <a:xfrm>
            <a:off x="6510528" y="4517136"/>
            <a:ext cx="68580" cy="1188720"/>
          </a:xfrm>
          <a:prstGeom prst="rect">
            <a:avLst/>
          </a:prstGeom>
          <a:solidFill>
            <a:srgbClr val="3BC39F"/>
          </a:solidFill>
          <a:ln w="12700">
            <a:solidFill>
              <a:srgbClr val="3BC39F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0" name="Text 18"/>
          <p:cNvSpPr/>
          <p:nvPr/>
        </p:nvSpPr>
        <p:spPr>
          <a:xfrm>
            <a:off x="6748272" y="4709160"/>
            <a:ext cx="4434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Optional services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6748272" y="513892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Routing daemons, resources, inspection</a:t>
            </a:r>
            <a:endParaRPr 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04 / CONTRIBUTION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The proposed solution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04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8304A"/>
                </a:solidFill>
                <a:latin typeface="Aptos"/>
                <a:ea typeface="Aptos"/>
                <a:cs typeface="Aptos"/>
              </a:rPr>
              <a:t>A lightweight Python orchestration layer built on top of Kathará</a:t>
            </a:r>
            <a:endParaRPr lang="en-US" sz="2300"/>
          </a:p>
        </p:txBody>
      </p:sp>
      <p:sp>
        <p:nvSpPr>
          <p:cNvPr id="9" name="Shape 7"/>
          <p:cNvSpPr/>
          <p:nvPr/>
        </p:nvSpPr>
        <p:spPr>
          <a:xfrm>
            <a:off x="192024" y="2432304"/>
            <a:ext cx="2176272" cy="1993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0" name="Text 8"/>
          <p:cNvSpPr/>
          <p:nvPr/>
        </p:nvSpPr>
        <p:spPr>
          <a:xfrm>
            <a:off x="356616" y="2660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9D4D4"/>
                </a:solidFill>
                <a:latin typeface="Aptos"/>
                <a:ea typeface="Aptos"/>
                <a:cs typeface="Aptos"/>
              </a:rPr>
              <a:t>01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356616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Describe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356616" y="3666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FF8"/>
                </a:solidFill>
                <a:latin typeface="Aptos"/>
                <a:ea typeface="Aptos"/>
                <a:cs typeface="Aptos"/>
              </a:rPr>
              <a:t>YAML topology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2532888" y="2432304"/>
            <a:ext cx="2176272" cy="1993392"/>
          </a:xfrm>
          <a:prstGeom prst="rect">
            <a:avLst/>
          </a:prstGeom>
          <a:solidFill>
            <a:srgbClr val="17283F"/>
          </a:solidFill>
          <a:ln w="12700">
            <a:solidFill>
              <a:srgbClr val="17283F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4" name="Text 12"/>
          <p:cNvSpPr/>
          <p:nvPr/>
        </p:nvSpPr>
        <p:spPr>
          <a:xfrm>
            <a:off x="2697480" y="2660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9D4D4"/>
                </a:solidFill>
                <a:latin typeface="Aptos"/>
                <a:ea typeface="Aptos"/>
                <a:cs typeface="Aptos"/>
              </a:rPr>
              <a:t>02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2697480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</a:t>
            </a:r>
            <a:endParaRPr lang="en-US" sz="1900"/>
          </a:p>
        </p:txBody>
      </p:sp>
      <p:sp>
        <p:nvSpPr>
          <p:cNvPr id="16" name="Text 14"/>
          <p:cNvSpPr/>
          <p:nvPr/>
        </p:nvSpPr>
        <p:spPr>
          <a:xfrm>
            <a:off x="2697480" y="3666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FF8"/>
                </a:solidFill>
                <a:latin typeface="Aptos"/>
                <a:ea typeface="Aptos"/>
                <a:cs typeface="Aptos"/>
              </a:rPr>
              <a:t>Syntax and semantics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873752" y="2432304"/>
            <a:ext cx="2176272" cy="1993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8" name="Text 16"/>
          <p:cNvSpPr/>
          <p:nvPr/>
        </p:nvSpPr>
        <p:spPr>
          <a:xfrm>
            <a:off x="5038344" y="2660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9D4D4"/>
                </a:solidFill>
                <a:latin typeface="Aptos"/>
                <a:ea typeface="Aptos"/>
                <a:cs typeface="Aptos"/>
              </a:rPr>
              <a:t>03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5038344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</a:t>
            </a:r>
            <a:endParaRPr lang="en-US" sz="1900"/>
          </a:p>
        </p:txBody>
      </p:sp>
      <p:sp>
        <p:nvSpPr>
          <p:cNvPr id="20" name="Text 18"/>
          <p:cNvSpPr/>
          <p:nvPr/>
        </p:nvSpPr>
        <p:spPr>
          <a:xfrm>
            <a:off x="5038344" y="3666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FF8"/>
                </a:solidFill>
                <a:latin typeface="Aptos"/>
                <a:ea typeface="Aptos"/>
                <a:cs typeface="Aptos"/>
              </a:rPr>
              <a:t>Kathará folder + FRR files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7214616" y="2432304"/>
            <a:ext cx="2176272" cy="1993392"/>
          </a:xfrm>
          <a:prstGeom prst="rect">
            <a:avLst/>
          </a:prstGeom>
          <a:solidFill>
            <a:srgbClr val="17283F"/>
          </a:solidFill>
          <a:ln w="12700">
            <a:solidFill>
              <a:srgbClr val="17283F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2" name="Text 20"/>
          <p:cNvSpPr/>
          <p:nvPr/>
        </p:nvSpPr>
        <p:spPr>
          <a:xfrm>
            <a:off x="7379208" y="2660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9D4D4"/>
                </a:solidFill>
                <a:latin typeface="Aptos"/>
                <a:ea typeface="Aptos"/>
                <a:cs typeface="Aptos"/>
              </a:rPr>
              <a:t>04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7379208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</a:t>
            </a:r>
            <a:endParaRPr lang="en-US" sz="1900"/>
          </a:p>
        </p:txBody>
      </p:sp>
      <p:sp>
        <p:nvSpPr>
          <p:cNvPr id="24" name="Text 22"/>
          <p:cNvSpPr/>
          <p:nvPr/>
        </p:nvSpPr>
        <p:spPr>
          <a:xfrm>
            <a:off x="7379208" y="3666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FF8"/>
                </a:solidFill>
                <a:latin typeface="Aptos"/>
                <a:ea typeface="Aptos"/>
                <a:cs typeface="Aptos"/>
              </a:rPr>
              <a:t>Katharà’s containers and routing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9555480" y="2432304"/>
            <a:ext cx="2176272" cy="1993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6" name="Text 24"/>
          <p:cNvSpPr/>
          <p:nvPr/>
        </p:nvSpPr>
        <p:spPr>
          <a:xfrm>
            <a:off x="9720072" y="2660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9D4D4"/>
                </a:solidFill>
                <a:latin typeface="Aptos"/>
                <a:ea typeface="Aptos"/>
                <a:cs typeface="Aptos"/>
              </a:rPr>
              <a:t>05</a:t>
            </a:r>
            <a:endParaRPr lang="en-US" sz="1700"/>
          </a:p>
        </p:txBody>
      </p:sp>
      <p:sp>
        <p:nvSpPr>
          <p:cNvPr id="27" name="Text 25"/>
          <p:cNvSpPr/>
          <p:nvPr/>
        </p:nvSpPr>
        <p:spPr>
          <a:xfrm>
            <a:off x="9720072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</a:t>
            </a:r>
            <a:endParaRPr lang="en-US" sz="1900"/>
          </a:p>
        </p:txBody>
      </p:sp>
      <p:sp>
        <p:nvSpPr>
          <p:cNvPr id="28" name="Text 26"/>
          <p:cNvSpPr/>
          <p:nvPr/>
        </p:nvSpPr>
        <p:spPr>
          <a:xfrm>
            <a:off x="9720072" y="3666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FF8"/>
                </a:solidFill>
                <a:latin typeface="Aptos"/>
                <a:ea typeface="Aptos"/>
                <a:cs typeface="Aptos"/>
              </a:rPr>
              <a:t>Connectivity + service metrics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704088" y="52760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8304A"/>
                </a:solidFill>
                <a:latin typeface="Aptos"/>
                <a:ea typeface="Aptos"/>
                <a:cs typeface="Aptos"/>
              </a:rPr>
              <a:t>Key principle: keep standard Kathará artifacts readable and editable.</a:t>
            </a:r>
            <a:endParaRPr lang="en-US"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05 / IMPLEMENTATION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93776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Solution internal architecture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43484" y="6400800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08</a:t>
            </a:r>
          </a:p>
        </p:txBody>
      </p:sp>
      <p:sp>
        <p:nvSpPr>
          <p:cNvPr id="8" name="Shape 6"/>
          <p:cNvSpPr/>
          <p:nvPr/>
        </p:nvSpPr>
        <p:spPr>
          <a:xfrm>
            <a:off x="1069848" y="1252728"/>
            <a:ext cx="10222992" cy="850392"/>
          </a:xfrm>
          <a:prstGeom prst="roundRect">
            <a:avLst>
              <a:gd name="adj" fmla="val 10753"/>
            </a:avLst>
          </a:prstGeom>
          <a:solidFill>
            <a:srgbClr val="EAF3FC"/>
          </a:solidFill>
          <a:ln w="12700">
            <a:solidFill>
              <a:srgbClr val="C9DDEA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Shape 7"/>
          <p:cNvSpPr/>
          <p:nvPr/>
        </p:nvSpPr>
        <p:spPr>
          <a:xfrm>
            <a:off x="1069848" y="1252728"/>
            <a:ext cx="2514600" cy="850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0" name="Text 8"/>
          <p:cNvSpPr/>
          <p:nvPr/>
        </p:nvSpPr>
        <p:spPr>
          <a:xfrm>
            <a:off x="1234440" y="14630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Lexer.py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904488" y="1435608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8304A"/>
                </a:solidFill>
                <a:latin typeface="Aptos"/>
                <a:ea typeface="Aptos"/>
                <a:cs typeface="Aptos"/>
              </a:rPr>
              <a:t>Find and safely load YAML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5929884" y="2084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>
                <a:solidFill>
                  <a:srgbClr val="338AF3"/>
                </a:solidFill>
                <a:latin typeface="Aptos"/>
                <a:ea typeface="Aptos"/>
                <a:cs typeface="Aptos"/>
              </a:rPr>
              <a:t>↓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1069848" y="2377440"/>
            <a:ext cx="10222992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C9DDEA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4" name="Shape 12"/>
          <p:cNvSpPr/>
          <p:nvPr/>
        </p:nvSpPr>
        <p:spPr>
          <a:xfrm>
            <a:off x="1069848" y="2377440"/>
            <a:ext cx="2514600" cy="850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5" name="Text 13"/>
          <p:cNvSpPr/>
          <p:nvPr/>
        </p:nvSpPr>
        <p:spPr>
          <a:xfrm>
            <a:off x="1234440" y="25877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Parser.py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3904488" y="2560320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8304A"/>
                </a:solidFill>
                <a:latin typeface="Aptos"/>
                <a:ea typeface="Aptos"/>
                <a:cs typeface="Aptos"/>
              </a:rPr>
              <a:t>Validate structure and semantics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5980176" y="32095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>
                <a:solidFill>
                  <a:srgbClr val="338AF3"/>
                </a:solidFill>
                <a:latin typeface="Aptos"/>
                <a:ea typeface="Aptos"/>
                <a:cs typeface="Aptos"/>
              </a:rPr>
              <a:t>↓</a:t>
            </a:r>
            <a:endParaRPr lang="en-US" sz="1700"/>
          </a:p>
        </p:txBody>
      </p:sp>
      <p:sp>
        <p:nvSpPr>
          <p:cNvPr id="18" name="Shape 16"/>
          <p:cNvSpPr/>
          <p:nvPr/>
        </p:nvSpPr>
        <p:spPr>
          <a:xfrm>
            <a:off x="1069848" y="3502152"/>
            <a:ext cx="10222992" cy="850392"/>
          </a:xfrm>
          <a:prstGeom prst="roundRect">
            <a:avLst>
              <a:gd name="adj" fmla="val 10753"/>
            </a:avLst>
          </a:prstGeom>
          <a:solidFill>
            <a:srgbClr val="EAF3FC"/>
          </a:solidFill>
          <a:ln w="12700">
            <a:solidFill>
              <a:srgbClr val="C9DDEA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9" name="Shape 17"/>
          <p:cNvSpPr/>
          <p:nvPr/>
        </p:nvSpPr>
        <p:spPr>
          <a:xfrm>
            <a:off x="1069848" y="3502152"/>
            <a:ext cx="2514600" cy="850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0" name="Text 18"/>
          <p:cNvSpPr/>
          <p:nvPr/>
        </p:nvSpPr>
        <p:spPr>
          <a:xfrm>
            <a:off x="1234440" y="37124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gen_lab.py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3904488" y="3685032"/>
            <a:ext cx="733952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8304A"/>
                </a:solidFill>
                <a:latin typeface="Aptos"/>
                <a:ea typeface="Aptos"/>
                <a:cs typeface="Aptos"/>
              </a:rPr>
              <a:t>Write lab.conf, .startup, FRR files and WireShark implementation</a:t>
            </a:r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1069848" y="4748784"/>
            <a:ext cx="10222992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C9DDEA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4" name="Shape 22"/>
          <p:cNvSpPr/>
          <p:nvPr/>
        </p:nvSpPr>
        <p:spPr>
          <a:xfrm>
            <a:off x="1069848" y="4748784"/>
            <a:ext cx="2514600" cy="850392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5" name="Text 23"/>
          <p:cNvSpPr/>
          <p:nvPr/>
        </p:nvSpPr>
        <p:spPr>
          <a:xfrm>
            <a:off x="1234440" y="49590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labs/&lt;name&gt;/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3904488" y="4931664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8304A"/>
                </a:solidFill>
                <a:latin typeface="Aptos"/>
                <a:ea typeface="Aptos"/>
                <a:cs typeface="Aptos"/>
              </a:rPr>
              <a:t>Generated standard Kathará laboratory</a:t>
            </a:r>
            <a:endParaRPr lang="en-US" sz="2000"/>
          </a:p>
        </p:txBody>
      </p:sp>
      <p:sp>
        <p:nvSpPr>
          <p:cNvPr id="67" name="Text 20"/>
          <p:cNvSpPr/>
          <p:nvPr/>
        </p:nvSpPr>
        <p:spPr>
          <a:xfrm>
            <a:off x="5980176" y="435254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>
                <a:solidFill>
                  <a:srgbClr val="338AF3"/>
                </a:solidFill>
                <a:latin typeface="Aptos"/>
                <a:ea typeface="Aptos"/>
                <a:cs typeface="Aptos"/>
              </a:rPr>
              <a:t>↓</a:t>
            </a:r>
            <a:endParaRPr lang="en-US" sz="1700"/>
          </a:p>
        </p:txBody>
      </p:sp>
      <p:sp>
        <p:nvSpPr>
          <p:cNvPr id="85" name="TextBox 26"/>
          <p:cNvSpPr txBox="1"/>
          <p:nvPr/>
        </p:nvSpPr>
        <p:spPr>
          <a:xfrm>
            <a:off x="443484" y="5943600"/>
            <a:ext cx="11294284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i="1"/>
              <a:t>To start a laboratory generation the user calls a wrapper called generate_lab.py &lt;path of the YAML configuration file&gt;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06 / RELIABILITY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Validation before deployment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09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521208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Shape 7"/>
          <p:cNvSpPr/>
          <p:nvPr/>
        </p:nvSpPr>
        <p:spPr>
          <a:xfrm>
            <a:off x="731520" y="1764792"/>
            <a:ext cx="68580" cy="3456432"/>
          </a:xfrm>
          <a:prstGeom prst="rect">
            <a:avLst/>
          </a:prstGeom>
          <a:solidFill>
            <a:srgbClr val="3BC39F"/>
          </a:solidFill>
          <a:ln w="12700">
            <a:solidFill>
              <a:srgbClr val="3BC39F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0" name="Text 8"/>
          <p:cNvSpPr/>
          <p:nvPr/>
        </p:nvSpPr>
        <p:spPr>
          <a:xfrm>
            <a:off x="969264" y="1956816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What is checked?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969264" y="2386584"/>
            <a:ext cx="47548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Node identifiers and supported types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Interface addressing and network structure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Default-gateway consistency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Protocol configuration constraints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6217920" y="1764792"/>
            <a:ext cx="521208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3" name="Shape 11"/>
          <p:cNvSpPr/>
          <p:nvPr/>
        </p:nvSpPr>
        <p:spPr>
          <a:xfrm>
            <a:off x="6217920" y="1764792"/>
            <a:ext cx="68580" cy="3456432"/>
          </a:xfrm>
          <a:prstGeom prst="rect">
            <a:avLst/>
          </a:prstGeom>
          <a:solidFill>
            <a:srgbClr val="F8BD68"/>
          </a:solidFill>
          <a:ln w="12700">
            <a:solidFill>
              <a:srgbClr val="F8BD68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4" name="Text 12"/>
          <p:cNvSpPr/>
          <p:nvPr/>
        </p:nvSpPr>
        <p:spPr>
          <a:xfrm>
            <a:off x="6455664" y="1956816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Known limitations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6455664" y="2386584"/>
            <a:ext cx="47548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Unknown YAML keys may be ignored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Some static-route next hops lack reachability checks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Raw FRR commands are not fully validated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18304A"/>
                </a:solidFill>
                <a:latin typeface="Aptos"/>
                <a:ea typeface="Aptos"/>
                <a:cs typeface="Aptos"/>
              </a:rPr>
              <a:t>This is a prototype with explicit validation boundaries, not a full network verifier.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07 / SECURITY EXPERIMENT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667512" y="966773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Controlled Denial-of-Service experiment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11</a:t>
            </a:r>
          </a:p>
        </p:txBody>
      </p:sp>
      <p:sp>
        <p:nvSpPr>
          <p:cNvPr id="8" name="Shape 6"/>
          <p:cNvSpPr/>
          <p:nvPr/>
        </p:nvSpPr>
        <p:spPr>
          <a:xfrm>
            <a:off x="3316986" y="1843776"/>
            <a:ext cx="2880360" cy="1298448"/>
          </a:xfrm>
          <a:prstGeom prst="roundRect">
            <a:avLst>
              <a:gd name="adj" fmla="val 9859"/>
            </a:avLst>
          </a:prstGeom>
          <a:solidFill>
            <a:srgbClr val="E5F5F5"/>
          </a:solidFill>
          <a:ln w="12700">
            <a:solidFill>
              <a:srgbClr val="C5E4E3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Text 7"/>
          <p:cNvSpPr/>
          <p:nvPr/>
        </p:nvSpPr>
        <p:spPr>
          <a:xfrm>
            <a:off x="3522726" y="227428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Legitimate clients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667512" y="4064978"/>
            <a:ext cx="2880360" cy="1280160"/>
          </a:xfrm>
          <a:prstGeom prst="roundRect">
            <a:avLst>
              <a:gd name="adj" fmla="val 1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B0F0"/>
            </a:solidFill>
            <a:prstDash val="solid"/>
          </a:ln>
        </p:spPr>
        <p:txBody>
          <a:bodyPr anchor="ctr"/>
          <a:lstStyle/>
          <a:p/>
        </p:txBody>
      </p:sp>
      <p:sp>
        <p:nvSpPr>
          <p:cNvPr id="11" name="Text 9"/>
          <p:cNvSpPr/>
          <p:nvPr/>
        </p:nvSpPr>
        <p:spPr>
          <a:xfrm>
            <a:off x="795528" y="4405592"/>
            <a:ext cx="2624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Controlled traffic sources</a:t>
            </a:r>
            <a:endParaRPr lang="en-US" sz="1700"/>
          </a:p>
        </p:txBody>
      </p:sp>
      <p:sp>
        <p:nvSpPr>
          <p:cNvPr id="12" name="Shape 10"/>
          <p:cNvSpPr/>
          <p:nvPr/>
        </p:nvSpPr>
        <p:spPr>
          <a:xfrm>
            <a:off x="6266593" y="4509808"/>
            <a:ext cx="2828734" cy="1140307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3" name="Text 11"/>
          <p:cNvSpPr/>
          <p:nvPr/>
        </p:nvSpPr>
        <p:spPr>
          <a:xfrm>
            <a:off x="6300216" y="4814786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Server</a:t>
            </a:r>
            <a:endParaRPr lang="en-US" sz="1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4" name="Shape 12"/>
          <p:cNvCxnSpPr>
            <a:stCxn id="8" idx="2"/>
            <a:endCxn id="12" idx="0"/>
          </p:cNvCxnSpPr>
          <p:nvPr/>
        </p:nvCxnSpPr>
        <p:spPr>
          <a:xfrm>
            <a:off x="4757166" y="3142224"/>
            <a:ext cx="2923794" cy="1367584"/>
          </a:xfrm>
          <a:prstGeom prst="line">
            <a:avLst/>
          </a:prstGeom>
          <a:noFill/>
          <a:ln w="38100">
            <a:solidFill>
              <a:srgbClr val="3BC39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" name="Shape 13"/>
          <p:cNvCxnSpPr>
            <a:stCxn id="10" idx="3"/>
            <a:endCxn id="12" idx="1"/>
          </p:cNvCxnSpPr>
          <p:nvPr/>
        </p:nvCxnSpPr>
        <p:spPr>
          <a:xfrm>
            <a:off x="3547872" y="4705058"/>
            <a:ext cx="2718721" cy="374904"/>
          </a:xfrm>
          <a:prstGeom prst="line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" name="Text 14"/>
          <p:cNvSpPr/>
          <p:nvPr/>
        </p:nvSpPr>
        <p:spPr>
          <a:xfrm>
            <a:off x="758952" y="5852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Same topology · Same measurement method · Different load conditions</a:t>
            </a:r>
            <a:endParaRPr lang="en-US" sz="1900"/>
          </a:p>
        </p:txBody>
      </p:sp>
      <p:sp>
        <p:nvSpPr>
          <p:cNvPr id="69" name="Rectangle 16"/>
          <p:cNvSpPr/>
          <p:nvPr/>
        </p:nvSpPr>
        <p:spPr>
          <a:xfrm>
            <a:off x="8444884" y="1625141"/>
            <a:ext cx="2770159" cy="8678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2000" b="1">
                <a:solidFill>
                  <a:schemeClr val="tx1"/>
                </a:solidFill>
              </a:rPr>
              <a:t>Attacker</a:t>
            </a:r>
            <a:endParaRPr sz="2000" b="1">
              <a:solidFill>
                <a:schemeClr val="tx1"/>
              </a:solidFill>
            </a:endParaRPr>
          </a:p>
        </p:txBody>
      </p:sp>
      <p:sp>
        <p:nvSpPr>
          <p:cNvPr id="70" name="Rectangle 17"/>
          <p:cNvSpPr/>
          <p:nvPr/>
        </p:nvSpPr>
        <p:spPr>
          <a:xfrm>
            <a:off x="8706389" y="2998494"/>
            <a:ext cx="2259830" cy="8610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2000" b="1">
                <a:solidFill>
                  <a:schemeClr val="tx1"/>
                </a:solidFill>
              </a:rPr>
              <a:t>Zombies</a:t>
            </a:r>
            <a:endParaRPr sz="2000" b="1">
              <a:solidFill>
                <a:schemeClr val="tx1"/>
              </a:solidFill>
            </a:endParaRPr>
          </a:p>
        </p:txBody>
      </p:sp>
      <p:cxnSp>
        <p:nvCxnSpPr>
          <p:cNvPr id="71" name="Shape 12"/>
          <p:cNvCxnSpPr>
            <a:stCxn id="70" idx="2"/>
            <a:endCxn id="12" idx="0"/>
          </p:cNvCxnSpPr>
          <p:nvPr/>
        </p:nvCxnSpPr>
        <p:spPr>
          <a:xfrm flipH="1">
            <a:off x="7680960" y="3859505"/>
            <a:ext cx="2155344" cy="650303"/>
          </a:xfrm>
          <a:prstGeom prst="line">
            <a:avLst/>
          </a:prstGeom>
          <a:solidFill>
            <a:srgbClr val="FFFF00"/>
          </a:solidFill>
          <a:ln w="38100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2" name="Shape 12"/>
          <p:cNvCxnSpPr>
            <a:stCxn id="69" idx="2"/>
            <a:endCxn id="70" idx="0"/>
          </p:cNvCxnSpPr>
          <p:nvPr/>
        </p:nvCxnSpPr>
        <p:spPr>
          <a:xfrm>
            <a:off x="9829964" y="2493000"/>
            <a:ext cx="6341" cy="505494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182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08 / INTERPRETATION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49808" y="4572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What the experiment demonstrates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12</a:t>
            </a:r>
          </a:p>
        </p:txBody>
      </p:sp>
      <p:sp>
        <p:nvSpPr>
          <p:cNvPr id="16" name="Text 14"/>
          <p:cNvSpPr/>
          <p:nvPr/>
        </p:nvSpPr>
        <p:spPr>
          <a:xfrm>
            <a:off x="749808" y="5897880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18304A"/>
                </a:solidFill>
                <a:latin typeface="Aptos"/>
                <a:ea typeface="Aptos"/>
                <a:cs typeface="Aptos"/>
              </a:rPr>
              <a:t>DoS results should be interpreted relative to the valid baseline, not as a universal performance claim.</a:t>
            </a:r>
            <a:endParaRPr lang="en-US" sz="1600"/>
          </a:p>
        </p:txBody>
      </p:sp>
      <p:pic>
        <p:nvPicPr>
          <p:cNvPr id="77" name="Picture 9" descr="dos_lab_simulation_0001_dos_metrics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1000" y="1133856"/>
            <a:ext cx="5452872" cy="4764024"/>
          </a:xfrm>
          <a:prstGeom prst="rect">
            <a:avLst/>
          </a:prstGeom>
        </p:spPr>
      </p:pic>
      <p:pic>
        <p:nvPicPr>
          <p:cNvPr id="79" name="Picture 10" descr="dos_lab_simulation_0001_baseline_metric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44768" y="1133856"/>
            <a:ext cx="5422392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338AF3"/>
                </a:solidFill>
                <a:latin typeface="Aptos"/>
                <a:ea typeface="Aptos"/>
                <a:cs typeface="Aptos"/>
              </a:rPr>
              <a:t>09 / NEXT STEPS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Limitations and future directions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94360" y="6519672"/>
            <a:ext cx="10972800" cy="10973"/>
          </a:xfrm>
          <a:prstGeom prst="rect">
            <a:avLst/>
          </a:prstGeom>
          <a:solidFill>
            <a:srgbClr val="D9E4F0"/>
          </a:solidFill>
          <a:ln w="12700">
            <a:solidFill>
              <a:srgbClr val="D9E4F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6" name="Text 4"/>
          <p:cNvSpPr/>
          <p:nvPr/>
        </p:nvSpPr>
        <p:spPr>
          <a:xfrm>
            <a:off x="594360" y="65745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196AB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018520" y="6556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/>
              <a:t>13</a:t>
            </a:r>
          </a:p>
        </p:txBody>
      </p:sp>
      <p:sp>
        <p:nvSpPr>
          <p:cNvPr id="8" name="Shape 6"/>
          <p:cNvSpPr/>
          <p:nvPr/>
        </p:nvSpPr>
        <p:spPr>
          <a:xfrm>
            <a:off x="658368" y="1700784"/>
            <a:ext cx="3557016" cy="3995928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Shape 7"/>
          <p:cNvSpPr/>
          <p:nvPr/>
        </p:nvSpPr>
        <p:spPr>
          <a:xfrm>
            <a:off x="658368" y="1700784"/>
            <a:ext cx="68580" cy="3995928"/>
          </a:xfrm>
          <a:prstGeom prst="rect">
            <a:avLst/>
          </a:prstGeom>
          <a:solidFill>
            <a:srgbClr val="F8BD68"/>
          </a:solidFill>
          <a:ln w="12700">
            <a:solidFill>
              <a:srgbClr val="F8BD68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0" name="Text 8"/>
          <p:cNvSpPr/>
          <p:nvPr/>
        </p:nvSpPr>
        <p:spPr>
          <a:xfrm>
            <a:off x="896112" y="1892808"/>
            <a:ext cx="3099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Validation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896112" y="2322576"/>
            <a:ext cx="309981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Reject or warn about unknown keys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Extend next-hop verification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8304A"/>
                </a:solidFill>
                <a:latin typeface="Aptos"/>
                <a:ea typeface="Aptos"/>
                <a:cs typeface="Aptos"/>
              </a:rPr>
              <a:t>Check raw FRR configuration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4325112" y="1700784"/>
            <a:ext cx="3557016" cy="3995928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3" name="Shape 11"/>
          <p:cNvSpPr/>
          <p:nvPr/>
        </p:nvSpPr>
        <p:spPr>
          <a:xfrm>
            <a:off x="4325112" y="1700784"/>
            <a:ext cx="68580" cy="3995928"/>
          </a:xfrm>
          <a:prstGeom prst="rect">
            <a:avLst/>
          </a:prstGeom>
          <a:solidFill>
            <a:srgbClr val="338AF3"/>
          </a:solidFill>
          <a:ln w="12700">
            <a:solidFill>
              <a:srgbClr val="338AF3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4" name="Text 12"/>
          <p:cNvSpPr/>
          <p:nvPr/>
        </p:nvSpPr>
        <p:spPr>
          <a:xfrm>
            <a:off x="4562856" y="1892808"/>
            <a:ext cx="3099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Evaluation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4562856" y="2322576"/>
            <a:ext cx="309981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/>
              <a:t>More topologies and loads</a:t>
            </a:r>
          </a:p>
          <a:p/>
          <a:p>
            <a:r>
              <a:rPr/>
              <a:t>Repeated experiments</a:t>
            </a:r>
          </a:p>
          <a:p/>
          <a:p>
            <a:r>
              <a:rPr/>
              <a:t>Stronger performance statistics</a:t>
            </a:r>
          </a:p>
        </p:txBody>
      </p:sp>
      <p:sp>
        <p:nvSpPr>
          <p:cNvPr id="16" name="Shape 14"/>
          <p:cNvSpPr/>
          <p:nvPr/>
        </p:nvSpPr>
        <p:spPr>
          <a:xfrm>
            <a:off x="7991856" y="1700784"/>
            <a:ext cx="3557016" cy="3995928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12700">
            <a:solidFill>
              <a:srgbClr val="DFEAF4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7" name="Shape 15"/>
          <p:cNvSpPr/>
          <p:nvPr/>
        </p:nvSpPr>
        <p:spPr>
          <a:xfrm>
            <a:off x="7991856" y="1700784"/>
            <a:ext cx="68580" cy="3995928"/>
          </a:xfrm>
          <a:prstGeom prst="rect">
            <a:avLst/>
          </a:prstGeom>
          <a:solidFill>
            <a:srgbClr val="3BC39F"/>
          </a:solidFill>
          <a:ln w="12700">
            <a:solidFill>
              <a:srgbClr val="3BC39F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8" name="Text 16"/>
          <p:cNvSpPr/>
          <p:nvPr/>
        </p:nvSpPr>
        <p:spPr>
          <a:xfrm>
            <a:off x="8229600" y="1892808"/>
            <a:ext cx="3099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1E32"/>
                </a:solidFill>
                <a:latin typeface="Aptos"/>
                <a:ea typeface="Aptos"/>
                <a:cs typeface="Aptos"/>
              </a:rPr>
              <a:t>Others</a:t>
            </a:r>
            <a:endParaRPr lang="en-US" sz="1800" b="1">
              <a:solidFill>
                <a:srgbClr val="101E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0" y="2322576"/>
            <a:ext cx="309981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/>
              <a:t>Optional graphical user interface</a:t>
            </a:r>
          </a:p>
          <a:p/>
          <a:p>
            <a:r>
              <a:rPr/>
              <a:t>Mandatory deterministic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1938528"/>
            <a:ext cx="9875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you.</a:t>
            </a:r>
            <a:endParaRPr lang="en-US" sz="5200"/>
          </a:p>
        </p:txBody>
      </p:sp>
      <p:sp>
        <p:nvSpPr>
          <p:cNvPr id="3" name="Shape 1"/>
          <p:cNvSpPr/>
          <p:nvPr/>
        </p:nvSpPr>
        <p:spPr>
          <a:xfrm>
            <a:off x="1097280" y="3246120"/>
            <a:ext cx="2834640" cy="82296"/>
          </a:xfrm>
          <a:prstGeom prst="rect">
            <a:avLst/>
          </a:prstGeom>
          <a:solidFill>
            <a:srgbClr val="49D4D4"/>
          </a:solidFill>
          <a:ln w="12700">
            <a:solidFill>
              <a:srgbClr val="49D4D4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4" name="Text 2"/>
          <p:cNvSpPr/>
          <p:nvPr/>
        </p:nvSpPr>
        <p:spPr>
          <a:xfrm>
            <a:off x="1078992" y="37673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>
                <a:solidFill>
                  <a:srgbClr val="E8EFF8"/>
                </a:solidFill>
                <a:latin typeface="Aptos"/>
                <a:ea typeface="Aptos"/>
                <a:cs typeface="Aptos"/>
              </a:rPr>
              <a:t>Questions?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1106424" y="574243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7BDD4"/>
                </a:solidFill>
                <a:latin typeface="Aptos"/>
                <a:ea typeface="Aptos"/>
                <a:cs typeface="Aptos"/>
              </a:rPr>
              <a:t>Luca Bortoluzzi  •  University of Turin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13</Slides>
  <Notes>0</Notes>
  <HiddenSlides>0</HiddenSlide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Kathará-Based Framework for Network Emulation and Testing</dc:title>
  <dc:subject>Kathará-based network emulation thesis defense</dc:subject>
  <dc:creator>Luca Bortoluzzi</dc:creator>
  <cp:lastModifiedBy>Luca Bortoluzzi</cp:lastModifiedBy>
  <cp:revision>1</cp:revision>
  <dcterms:created xsi:type="dcterms:W3CDTF">2026-10-20T09:02:29Z</dcterms:created>
  <dcterms:modified xsi:type="dcterms:W3CDTF">2026-10-20T09:02:29Z</dcterms:modified>
</cp:coreProperties>
</file>