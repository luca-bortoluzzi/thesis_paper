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7559675" cy="10691813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theme" Target="theme/theme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2867040"/>
            <a:ext cx="9143640" cy="210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it-IT" sz="4800" b="1" u="none" strike="noStrike">
                <a:solidFill>
                  <a:schemeClr val="dk1"/>
                </a:solidFill>
                <a:latin typeface="Tahoma"/>
                <a:ea typeface="Tahoma"/>
              </a:rPr>
              <a:t>Fare clic per modificare lo stile del titolo dello schema</a:t>
            </a:r>
            <a:endParaRPr lang="it-IT" sz="4800" b="0" u="none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Immagin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54280" y="0"/>
            <a:ext cx="328320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it-IT" sz="28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it-IT" sz="28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0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it-IT" sz="20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it-IT" sz="18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it-IT" sz="18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it-IT" sz="18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it-IT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it-IT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it-IT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41560" y="0"/>
            <a:ext cx="2049840" cy="214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17240" y="439560"/>
            <a:ext cx="9974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chemeClr val="dk1"/>
                </a:solidFill>
                <a:latin typeface="Tahoma"/>
                <a:ea typeface="Tahoma"/>
              </a:rPr>
              <a:t>Fare clic per modificare lo stile del titolo dello schema</a:t>
            </a:r>
            <a:endParaRPr lang="it-IT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17240" y="1987200"/>
            <a:ext cx="11235240" cy="455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chemeClr val="dk1"/>
                </a:solidFill>
                <a:latin typeface="Tahoma"/>
                <a:ea typeface="Tahoma"/>
              </a:rPr>
              <a:t>Modifica gli stili del testo dello schema</a:t>
            </a:r>
            <a:endParaRPr lang="it-IT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chemeClr val="dk1"/>
                </a:solidFill>
                <a:latin typeface="Tahoma"/>
                <a:ea typeface="Tahoma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chemeClr val="dk1"/>
                </a:solidFill>
                <a:latin typeface="Tahoma"/>
                <a:ea typeface="Tahoma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latin typeface="Tahoma"/>
                <a:ea typeface="Tahoma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dk1"/>
                </a:solidFill>
                <a:latin typeface="Tahoma"/>
                <a:ea typeface="Tahoma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3031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chemeClr val="dk1"/>
                </a:solidFill>
                <a:latin typeface="Tahoma"/>
                <a:ea typeface="Tahoma"/>
              </a:rPr>
              <a:t>Fare clic per modificare lo stile del titolo dello schema</a:t>
            </a:r>
            <a:endParaRPr lang="it-IT" sz="4400" b="0" u="none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" name="Immagine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41560" y="0"/>
            <a:ext cx="2049840" cy="2140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Vuot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588120" y="0"/>
            <a:ext cx="5015520" cy="523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ema di 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040" y="3048000"/>
            <a:ext cx="10789920" cy="31089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DA1531"/>
                </a:solidFill>
                <a:latin typeface="Aptos"/>
              </a:rPr>
              <a:t>BACHELOR’S DEGREE IN COMPUTER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0224" y="3496056"/>
            <a:ext cx="10204704" cy="123444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3100" b="1">
                <a:solidFill>
                  <a:srgbClr val="41464B"/>
                </a:solidFill>
                <a:latin typeface="Aptos"/>
              </a:rPr>
              <a:t>Design and Implementation of a</a:t>
            </a:r>
          </a:p>
          <a:p>
            <a:pPr algn="ctr">
              <a:spcAft>
                <a:spcPts val="200"/>
              </a:spcAft>
            </a:pPr>
            <a:r>
              <a:rPr sz="3100" b="1">
                <a:solidFill>
                  <a:srgbClr val="41464B"/>
                </a:solidFill>
                <a:latin typeface="Aptos"/>
              </a:rPr>
              <a:t>Simple Kathará-Based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512" y="4931664"/>
            <a:ext cx="10149840" cy="32918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606770"/>
                </a:solidFill>
                <a:latin typeface="Aptos"/>
              </a:rPr>
              <a:t>Network emulation  •  Automated testing  •  DoS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7072" y="5754624"/>
            <a:ext cx="10332720" cy="50292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41464B"/>
                </a:solidFill>
                <a:latin typeface="Aptos"/>
              </a:rPr>
              <a:t>Luca Bortoluzzi  |  Student ID: 1097723  |  Supervisor: Prof. Gianluca Rizzo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7072" y="6330696"/>
            <a:ext cx="10332720" cy="32918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06770"/>
                </a:solidFill>
                <a:latin typeface="Aptos"/>
              </a:rPr>
              <a:t>University of Turin  •  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FOUNDATIONS / NETWORK EMULATION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What is Kathará?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" y="1752600"/>
            <a:ext cx="10744200" cy="73152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0">
                <a:solidFill>
                  <a:srgbClr val="41464B"/>
                </a:solidFill>
                <a:latin typeface="Aptos"/>
              </a:rPr>
              <a:t>An open-source network emulation platform that uses Linux containers to create virtual network laboratories.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78608"/>
            <a:ext cx="5166360" cy="125272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8608"/>
            <a:ext cx="64008" cy="1252728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15768"/>
            <a:ext cx="4754880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Virtual network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63824"/>
            <a:ext cx="4754880" cy="53949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Hosts, routers and servers in isolated containers.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78608"/>
            <a:ext cx="5166360" cy="125272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578608"/>
            <a:ext cx="64008" cy="1252728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715768"/>
            <a:ext cx="4754880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Flexible topologies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163824"/>
            <a:ext cx="4754880" cy="53949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Virtual links and collision domains.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50791"/>
            <a:ext cx="5166360" cy="125272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050791"/>
            <a:ext cx="64008" cy="1252728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87952"/>
            <a:ext cx="4754880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Real network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36007"/>
            <a:ext cx="4754880" cy="53949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Network protocols, routing daemons and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50791"/>
            <a:ext cx="5166360" cy="125272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050791"/>
            <a:ext cx="64008" cy="1252728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4187952"/>
            <a:ext cx="4754880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Academic and professional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636007"/>
            <a:ext cx="4754880" cy="53949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Teaching, research, testing and security experiments.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687568"/>
            <a:ext cx="10469880" cy="39319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F456E"/>
                </a:solidFill>
                <a:latin typeface="Aptos"/>
              </a:rPr>
              <a:t>Kathará provides the emulation environment; the thesis framework automates its configuration and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01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Why this project?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3346704" cy="331012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64008" cy="3310128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2935224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Manual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32304"/>
            <a:ext cx="2935224" cy="15006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Multiple configuration files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Repeated setup commands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Routing and addressing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847088"/>
            <a:ext cx="3346704" cy="331012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4" y="1847088"/>
            <a:ext cx="64008" cy="3310128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1984248"/>
            <a:ext cx="2935224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Hard to modify and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667000"/>
            <a:ext cx="2935224" cy="15006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Lab configuration scattered across files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Manual updates across files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Time spent debugging setup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47088"/>
            <a:ext cx="3346704" cy="331012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847088"/>
            <a:ext cx="64008" cy="3310128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984248"/>
            <a:ext cx="2935224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Need for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432304"/>
            <a:ext cx="2935224" cy="15006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Connectivity is not enough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Measure service behaviour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Compare normal and adverse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10789920" cy="39319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F456E"/>
                </a:solidFill>
                <a:latin typeface="Aptos"/>
              </a:rPr>
              <a:t>Research objective: simplify laboratory creation without replacing Kathará.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02 /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57400"/>
            <a:ext cx="3493008" cy="159105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057400"/>
            <a:ext cx="64008" cy="159105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39" y="2194559"/>
            <a:ext cx="3081527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Kathará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2642616"/>
            <a:ext cx="3081527" cy="87782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Network emulation and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057400"/>
            <a:ext cx="3493008" cy="159105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057400"/>
            <a:ext cx="64008" cy="159105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59"/>
            <a:ext cx="3081527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42616"/>
            <a:ext cx="3081527" cy="87782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Containerised network nodes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057400"/>
            <a:ext cx="3493008" cy="159105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2057400"/>
            <a:ext cx="64008" cy="159105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59"/>
            <a:ext cx="3081527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42616"/>
            <a:ext cx="3081527" cy="87782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Declarative topology definition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986784"/>
            <a:ext cx="3493008" cy="159105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986784"/>
            <a:ext cx="64008" cy="159105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23944"/>
            <a:ext cx="3081527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39" y="4572000"/>
            <a:ext cx="3081527" cy="87782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Parsing, generation and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986784"/>
            <a:ext cx="3493008" cy="159105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3986784"/>
            <a:ext cx="64008" cy="159105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123944"/>
            <a:ext cx="3081527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FRRouting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72000"/>
            <a:ext cx="3081527" cy="87782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Dynamic routing configuration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986784"/>
            <a:ext cx="3493008" cy="159105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3986784"/>
            <a:ext cx="64008" cy="159105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123944"/>
            <a:ext cx="3081527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CSV / Wireshark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572000"/>
            <a:ext cx="3081527" cy="87782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Metrics and traffic inspection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LABORATORY GENERATION /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Example of a Kathará laboratory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1477" y="1524000"/>
            <a:ext cx="8056373" cy="47030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94776" y="2023872"/>
            <a:ext cx="2980944" cy="108813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94776" y="2023872"/>
            <a:ext cx="64008" cy="108813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2161032"/>
            <a:ext cx="2569463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lab.conf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609088"/>
            <a:ext cx="2569463" cy="374903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Node-to-network associations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94776" y="3331464"/>
            <a:ext cx="2980944" cy="108813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94776" y="3331464"/>
            <a:ext cx="64008" cy="108813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3468623"/>
            <a:ext cx="2569463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*.startup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916680"/>
            <a:ext cx="2569463" cy="374903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Interface addresses and gateways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94776" y="4639056"/>
            <a:ext cx="2980944" cy="108813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94776" y="4639056"/>
            <a:ext cx="64008" cy="108813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4776216"/>
            <a:ext cx="2569463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FRRouting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5224272"/>
            <a:ext cx="2569463" cy="374903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Routing configuration, if requested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6272784"/>
            <a:ext cx="1069848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606770"/>
                </a:solidFill>
                <a:latin typeface="Aptos"/>
              </a:rPr>
              <a:t>Example of the project directory for one Kathará laboratory.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03 / YAML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Laboratory configurations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18488"/>
            <a:ext cx="5806440" cy="470611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1618488"/>
            <a:ext cx="5468112" cy="430682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pc_a: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type: host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interfaces: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  - network: lan_a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    ip: 10.0.1.10/24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default_gateway: 10.0.1.1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r1: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type: router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interfaces: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  - network: lan_a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    ip: 10.0.1.1/24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  - network: lan_b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    ip: 10.0.2.1/24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pc_b: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type: host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interfaces: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  - network: lan_b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    ip: 10.0.2.10/24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456E"/>
                </a:solidFill>
                <a:latin typeface="Consolas"/>
              </a:rPr>
              <a:t>  default_gateway: 10.0.2.1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83080"/>
            <a:ext cx="4736592" cy="118872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783080"/>
            <a:ext cx="64008" cy="1188720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1920240"/>
            <a:ext cx="4325112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Nodes and interfaces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368296"/>
            <a:ext cx="4325112" cy="4754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Hosts, routers, collision domains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227832"/>
            <a:ext cx="4736592" cy="118872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3227832"/>
            <a:ext cx="64008" cy="1188720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3364992"/>
            <a:ext cx="4325112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Network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3813048"/>
            <a:ext cx="4325112" cy="4754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IP addresses, gateways and routes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672584"/>
            <a:ext cx="4736592" cy="118872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4672584"/>
            <a:ext cx="64008" cy="1188720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09744"/>
            <a:ext cx="4325112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Optional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5257800"/>
            <a:ext cx="4325112" cy="4754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606770"/>
                </a:solidFill>
                <a:latin typeface="Aptos"/>
              </a:rPr>
              <a:t>Routing daemons, resources, inspection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04 /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The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10789920" cy="4572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1F456E"/>
                </a:solidFill>
                <a:latin typeface="Aptos"/>
              </a:rPr>
              <a:t>A lightweight Python orchestration layer built on top of Kathará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32888"/>
            <a:ext cx="2093976" cy="20574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697480"/>
            <a:ext cx="1737360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DA153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218688"/>
            <a:ext cx="1828800" cy="4389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840480"/>
            <a:ext cx="1828800" cy="59436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606770"/>
                </a:solidFill>
                <a:latin typeface="Aptos"/>
              </a:rPr>
              <a:t>YAML 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3255264"/>
            <a:ext cx="411480" cy="32918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DA1531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532888"/>
            <a:ext cx="2093976" cy="20574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697480"/>
            <a:ext cx="1737360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DA1531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18688"/>
            <a:ext cx="1828800" cy="4389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840480"/>
            <a:ext cx="1828800" cy="59436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606770"/>
                </a:solidFill>
                <a:latin typeface="Aptos"/>
              </a:rPr>
              <a:t>Syntax and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64408"/>
            <a:ext cx="411480" cy="32918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DA153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2532888"/>
            <a:ext cx="2093976" cy="20574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2697480"/>
            <a:ext cx="1737360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DA153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218688"/>
            <a:ext cx="1828800" cy="4389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3840480"/>
            <a:ext cx="1828800" cy="59436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606770"/>
                </a:solidFill>
                <a:latin typeface="Aptos"/>
              </a:rPr>
              <a:t>Kathará folder + FRR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3255264"/>
            <a:ext cx="411480" cy="32918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DA1531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3" y="2532888"/>
            <a:ext cx="2093976" cy="20574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697480"/>
            <a:ext cx="1737360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DA1531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3" y="3218688"/>
            <a:ext cx="1828800" cy="4389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840480"/>
            <a:ext cx="1828800" cy="59436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606770"/>
                </a:solidFill>
                <a:latin typeface="Aptos"/>
              </a:rPr>
              <a:t>Kathará containers and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3" y="3255264"/>
            <a:ext cx="411480" cy="32918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DA1531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0655" y="2532888"/>
            <a:ext cx="2093976" cy="2057400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2697480"/>
            <a:ext cx="1737360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DA1531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5" y="3218688"/>
            <a:ext cx="1828800" cy="4389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7815" y="3840480"/>
            <a:ext cx="1828800" cy="59436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606770"/>
                </a:solidFill>
                <a:latin typeface="Aptos"/>
              </a:rPr>
              <a:t>Connectivity + service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294376"/>
            <a:ext cx="10607040" cy="4754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F456E"/>
                </a:solidFill>
                <a:latin typeface="Aptos"/>
              </a:rPr>
              <a:t>Key principle: keep standard Kathará artefacts readable and editable.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05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Solution internal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9491472" cy="713232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64008" cy="713232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37360"/>
            <a:ext cx="2084831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1F456E"/>
                </a:solidFill>
                <a:latin typeface="Aptos"/>
              </a:rPr>
              <a:t>Lexer.py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746504"/>
            <a:ext cx="6656832" cy="35661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41464B"/>
                </a:solidFill>
                <a:latin typeface="Aptos"/>
              </a:rPr>
              <a:t>Find and safely load 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304288"/>
            <a:ext cx="457200" cy="26517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A1531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9491472" cy="713232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64008" cy="713232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79192"/>
            <a:ext cx="2084831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1F456E"/>
                </a:solidFill>
                <a:latin typeface="Aptos"/>
              </a:rPr>
              <a:t>Parser.py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688336"/>
            <a:ext cx="6656832" cy="35661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41464B"/>
                </a:solidFill>
                <a:latin typeface="Aptos"/>
              </a:rPr>
              <a:t>Validate structure and semantics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246120"/>
            <a:ext cx="457200" cy="26517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A1531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83864"/>
            <a:ext cx="9491472" cy="713232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483864"/>
            <a:ext cx="64008" cy="713232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621024"/>
            <a:ext cx="2084831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1F456E"/>
                </a:solidFill>
                <a:latin typeface="Aptos"/>
              </a:rPr>
              <a:t>gen_lab.py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630168"/>
            <a:ext cx="6656832" cy="35661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41464B"/>
                </a:solidFill>
                <a:latin typeface="Aptos"/>
              </a:rPr>
              <a:t>Write lab.conf, startup files, FRRouting and Wireshark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187952"/>
            <a:ext cx="457200" cy="26517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A1531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425696"/>
            <a:ext cx="9491472" cy="713232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425696"/>
            <a:ext cx="64008" cy="713232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562856"/>
            <a:ext cx="2084831" cy="34747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1F456E"/>
                </a:solidFill>
                <a:latin typeface="Aptos"/>
              </a:rPr>
              <a:t>labs/&lt;name&gt;/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572000"/>
            <a:ext cx="6656832" cy="356616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41464B"/>
                </a:solidFill>
                <a:latin typeface="Aptos"/>
              </a:rPr>
              <a:t>Generated standard Kathará laboratory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" y="5605272"/>
            <a:ext cx="9473184" cy="457200"/>
          </a:xfrm>
          <a:prstGeom prst="roundRect">
            <a:avLst/>
          </a:prstGeom>
          <a:solidFill>
            <a:srgbClr val="F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678424"/>
            <a:ext cx="8869680" cy="2560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41464B"/>
                </a:solidFill>
                <a:latin typeface="Consolas"/>
              </a:rPr>
              <a:t>Run: generate_lab.py &lt;path to YAML configuration&gt;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06 /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Validation before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367528" cy="3575304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64008" cy="35753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956048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What is checked?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4956048" cy="17800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Node identifiers and supported types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Interface addressing and network structure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Default-gateway consistency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Protocol configuration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783080"/>
            <a:ext cx="5257800" cy="3575304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7064" y="1783080"/>
            <a:ext cx="64008" cy="35753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920240"/>
            <a:ext cx="4846320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Known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68296"/>
            <a:ext cx="4846320" cy="15006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Unknown YAML keys may be ignored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Some static-route next hops lack reachability checks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Raw FRR commands are not fully 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733288"/>
            <a:ext cx="10661904" cy="4297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F456E"/>
                </a:solidFill>
                <a:latin typeface="Aptos"/>
              </a:rPr>
              <a:t>The implemented validator has explicit boundaries; it is not a full network verifier.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07 / SECURITY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Controlled Denial-of-Service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10</a:t>
            </a:r>
          </a:p>
        </p:txBody>
      </p:sp>
      <p:sp>
        <p:nvSpPr>
          <p:cNvPr id="8" name="Shape 6"/>
          <p:cNvSpPr/>
          <p:nvPr/>
        </p:nvSpPr>
        <p:spPr>
          <a:xfrm>
            <a:off x="3316986" y="1843776"/>
            <a:ext cx="2880360" cy="1298448"/>
          </a:xfrm>
          <a:prstGeom prst="roundRect">
            <a:avLst>
              <a:gd name="adj" fmla="val 9859"/>
            </a:avLst>
          </a:prstGeom>
          <a:solidFill>
            <a:srgbClr val="E5F5F5"/>
          </a:solidFill>
          <a:ln w="12700">
            <a:solidFill>
              <a:srgbClr val="C5E4E3"/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9" name="Text 7"/>
          <p:cNvSpPr/>
          <p:nvPr/>
        </p:nvSpPr>
        <p:spPr>
          <a:xfrm>
            <a:off x="3522726" y="227428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43044"/>
                </a:solidFill>
                <a:latin typeface="Aptos"/>
                <a:ea typeface="Aptos"/>
                <a:cs typeface="Aptos"/>
              </a:rPr>
              <a:t>Legitimate clients</a:t>
            </a:r>
            <a:endParaRPr lang="en-US" sz="1900"/>
          </a:p>
        </p:txBody>
      </p:sp>
      <p:sp>
        <p:nvSpPr>
          <p:cNvPr id="10" name="Shape 8"/>
          <p:cNvSpPr/>
          <p:nvPr/>
        </p:nvSpPr>
        <p:spPr>
          <a:xfrm>
            <a:off x="667512" y="4064978"/>
            <a:ext cx="2880360" cy="1280160"/>
          </a:xfrm>
          <a:prstGeom prst="roundRect">
            <a:avLst>
              <a:gd name="adj" fmla="val 10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B0F0"/>
            </a:solidFill>
            <a:prstDash val="solid"/>
          </a:ln>
        </p:spPr>
        <p:txBody>
          <a:bodyPr anchor="ctr"/>
          <a:lstStyle/>
          <a:p/>
        </p:txBody>
      </p:sp>
      <p:sp>
        <p:nvSpPr>
          <p:cNvPr id="11" name="Text 9"/>
          <p:cNvSpPr/>
          <p:nvPr/>
        </p:nvSpPr>
        <p:spPr>
          <a:xfrm>
            <a:off x="795528" y="4405592"/>
            <a:ext cx="2624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43044"/>
                </a:solidFill>
                <a:latin typeface="Aptos"/>
                <a:ea typeface="Aptos"/>
                <a:cs typeface="Aptos"/>
              </a:rPr>
              <a:t>Controlled traffic sources</a:t>
            </a:r>
            <a:endParaRPr lang="en-US" sz="1700"/>
          </a:p>
        </p:txBody>
      </p:sp>
      <p:sp>
        <p:nvSpPr>
          <p:cNvPr id="12" name="Shape 10"/>
          <p:cNvSpPr/>
          <p:nvPr/>
        </p:nvSpPr>
        <p:spPr>
          <a:xfrm>
            <a:off x="6266593" y="4509808"/>
            <a:ext cx="2828734" cy="1140307"/>
          </a:xfrm>
          <a:prstGeom prst="rect">
            <a:avLst/>
          </a:prstGeom>
          <a:solidFill>
            <a:srgbClr val="101E32"/>
          </a:solidFill>
          <a:ln w="12700">
            <a:solidFill>
              <a:srgbClr val="101E32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13" name="Text 11"/>
          <p:cNvSpPr/>
          <p:nvPr/>
        </p:nvSpPr>
        <p:spPr>
          <a:xfrm>
            <a:off x="6300216" y="4814786"/>
            <a:ext cx="2761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Server</a:t>
            </a:r>
            <a:endParaRPr lang="en-US" sz="1900" b="1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4" name="Shape 12"/>
          <p:cNvCxnSpPr>
            <a:stCxn id="8" idx="2"/>
            <a:endCxn id="12" idx="0"/>
          </p:cNvCxnSpPr>
          <p:nvPr/>
        </p:nvCxnSpPr>
        <p:spPr>
          <a:xfrm>
            <a:off x="4757166" y="3142224"/>
            <a:ext cx="2923794" cy="1367584"/>
          </a:xfrm>
          <a:prstGeom prst="line">
            <a:avLst/>
          </a:prstGeom>
          <a:noFill/>
          <a:ln w="38100">
            <a:solidFill>
              <a:srgbClr val="3BC39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5" name="Shape 13"/>
          <p:cNvCxnSpPr>
            <a:stCxn id="10" idx="3"/>
            <a:endCxn id="12" idx="1"/>
          </p:cNvCxnSpPr>
          <p:nvPr/>
        </p:nvCxnSpPr>
        <p:spPr>
          <a:xfrm>
            <a:off x="3547872" y="4705058"/>
            <a:ext cx="2718721" cy="374904"/>
          </a:xfrm>
          <a:prstGeom prst="line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" name="Text 14"/>
          <p:cNvSpPr/>
          <p:nvPr/>
        </p:nvSpPr>
        <p:spPr>
          <a:xfrm>
            <a:off x="758952" y="5852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43044"/>
                </a:solidFill>
                <a:latin typeface="Aptos"/>
                <a:ea typeface="Aptos"/>
                <a:cs typeface="Aptos"/>
              </a:rPr>
              <a:t>Same topology · Same measurement method · Different load conditions</a:t>
            </a:r>
            <a:endParaRPr lang="en-US" sz="1900"/>
          </a:p>
        </p:txBody>
      </p:sp>
      <p:sp>
        <p:nvSpPr>
          <p:cNvPr id="69" name="Rectangle 16"/>
          <p:cNvSpPr/>
          <p:nvPr/>
        </p:nvSpPr>
        <p:spPr>
          <a:xfrm>
            <a:off x="7676625" y="1591652"/>
            <a:ext cx="2770159" cy="8678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2000" b="1">
                <a:solidFill>
                  <a:srgbClr val="143044"/>
                </a:solidFill>
              </a:rPr>
              <a:t>Attacker</a:t>
            </a:r>
            <a:endParaRPr sz="2000" b="1">
              <a:solidFill>
                <a:schemeClr val="tx1"/>
              </a:solidFill>
            </a:endParaRPr>
          </a:p>
        </p:txBody>
      </p:sp>
      <p:sp>
        <p:nvSpPr>
          <p:cNvPr id="70" name="Rectangle 17"/>
          <p:cNvSpPr/>
          <p:nvPr/>
        </p:nvSpPr>
        <p:spPr>
          <a:xfrm>
            <a:off x="7938130" y="2965005"/>
            <a:ext cx="2259830" cy="8610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2000" b="1">
                <a:solidFill>
                  <a:srgbClr val="143044"/>
                </a:solidFill>
              </a:rPr>
              <a:t>Zombies</a:t>
            </a:r>
            <a:endParaRPr sz="2000" b="1">
              <a:solidFill>
                <a:schemeClr val="tx1"/>
              </a:solidFill>
            </a:endParaRPr>
          </a:p>
        </p:txBody>
      </p:sp>
      <p:cxnSp>
        <p:nvCxnSpPr>
          <p:cNvPr id="71" name="Shape 12"/>
          <p:cNvCxnSpPr>
            <a:stCxn id="70" idx="2"/>
            <a:endCxn id="12" idx="0"/>
          </p:cNvCxnSpPr>
          <p:nvPr/>
        </p:nvCxnSpPr>
        <p:spPr>
          <a:xfrm flipH="1">
            <a:off x="7680960" y="3826016"/>
            <a:ext cx="1387085" cy="683792"/>
          </a:xfrm>
          <a:prstGeom prst="line">
            <a:avLst/>
          </a:prstGeom>
          <a:solidFill>
            <a:srgbClr val="FFFF00"/>
          </a:solidFill>
          <a:ln w="38100">
            <a:solidFill>
              <a:schemeClr val="accent4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2" name="Shape 12"/>
          <p:cNvCxnSpPr>
            <a:stCxn id="69" idx="2"/>
            <a:endCxn id="70" idx="0"/>
          </p:cNvCxnSpPr>
          <p:nvPr/>
        </p:nvCxnSpPr>
        <p:spPr>
          <a:xfrm>
            <a:off x="9061704" y="2459511"/>
            <a:ext cx="6341" cy="505494"/>
          </a:xfrm>
          <a:prstGeom prst="line">
            <a:avLst/>
          </a:prstGeom>
          <a:noFill/>
          <a:ln w="381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08 /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What the experiment demonstrates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627632"/>
            <a:ext cx="4919472" cy="30175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DA1531"/>
                </a:solidFill>
                <a:latin typeface="Aptos"/>
              </a:rPr>
              <a:t>With DoS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1627632"/>
            <a:ext cx="4837176" cy="32918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F456E"/>
                </a:solidFill>
                <a:latin typeface="Aptos"/>
              </a:rPr>
              <a:t>Baseline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07503" y="1993392"/>
            <a:ext cx="2823536" cy="359359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67055" y="1993392"/>
            <a:ext cx="2823536" cy="3593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52160"/>
            <a:ext cx="10698480" cy="41148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F456E"/>
                </a:solidFill>
                <a:latin typeface="Aptos"/>
              </a:rPr>
              <a:t>Interpret DoS results relative to the valid baseline, not as a universal performance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47472"/>
            <a:ext cx="7315200" cy="24688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A1531"/>
                </a:solidFill>
                <a:latin typeface="Aptos"/>
              </a:rPr>
              <a:t>09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144000" cy="6675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1464B"/>
                </a:solidFill>
                <a:latin typeface="Aptos"/>
              </a:rPr>
              <a:t>Limitations and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" y="1380744"/>
            <a:ext cx="9217152" cy="32004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20116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606770"/>
                </a:solidFill>
                <a:latin typeface="Aptos"/>
              </a:rPr>
              <a:t>LUCA BORTOLUZZI  |  UNIVERSITY OF TURIN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73952"/>
            <a:ext cx="384048" cy="228600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>
                <a:solidFill>
                  <a:srgbClr val="606770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01952"/>
            <a:ext cx="3337560" cy="332841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01952"/>
            <a:ext cx="64008" cy="332841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2926079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87168"/>
            <a:ext cx="2926079" cy="17292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Reject or warn about unknown keys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Extend next-hop verification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Check raw FRR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901952"/>
            <a:ext cx="3337560" cy="332841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901952"/>
            <a:ext cx="64008" cy="332841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039112"/>
            <a:ext cx="2926079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87168"/>
            <a:ext cx="2926079" cy="15006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More topologies and loads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Repeated experiments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Stronger performance statistics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901952"/>
            <a:ext cx="3337560" cy="332841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57616" y="1901952"/>
            <a:ext cx="64008" cy="3328416"/>
          </a:xfrm>
          <a:prstGeom prst="rect">
            <a:avLst/>
          </a:prstGeom>
          <a:solidFill>
            <a:srgbClr val="DA1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039112"/>
            <a:ext cx="2926079" cy="384048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1464B"/>
                </a:solidFill>
                <a:latin typeface="Aptos"/>
              </a:rPr>
              <a:t>Others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487168"/>
            <a:ext cx="2926079" cy="122123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Optional graphical user interface</a:t>
            </a: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endParaRPr sz="1500" b="0">
              <a:solidFill>
                <a:srgbClr val="606770"/>
              </a:solidFill>
              <a:latin typeface="Aptos"/>
            </a:endParaRPr>
          </a:p>
          <a:p>
            <a:pPr marL="228600" indent="-228600">
              <a:spcAft>
                <a:spcPts val="200"/>
              </a:spcAft>
              <a:buChar char="•"/>
            </a:pPr>
            <a:r>
              <a:rPr sz="1500" b="0">
                <a:solidFill>
                  <a:srgbClr val="606770"/>
                </a:solidFill>
                <a:latin typeface="Aptos"/>
              </a:rPr>
              <a:t>Mandatory deterministic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4560" y="4818888"/>
            <a:ext cx="7772400" cy="694944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1">
                <a:solidFill>
                  <a:srgbClr val="41464B"/>
                </a:solidFill>
                <a:latin typeface="Aptos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5632704"/>
            <a:ext cx="7955279" cy="438912"/>
          </a:xfrm>
          <a:prstGeom prst="rect">
            <a:avLst/>
          </a:prstGeom>
          <a:noFill/>
        </p:spPr>
        <p:txBody>
          <a:bodyPr wrap="square" lIns="36576" tIns="13716" rIns="36576" bIns="13716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0">
                <a:solidFill>
                  <a:srgbClr val="606770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Stefania Stecca</dc:creator>
  <cp:lastModifiedBy>Stefania Stecca</cp:lastModifiedBy>
  <cp:revision>4</cp:revision>
  <dcterms:created xsi:type="dcterms:W3CDTF">2023-09-04T09:18:16Z</dcterms:created>
  <dcterms:modified xsi:type="dcterms:W3CDTF">2023-09-04T10:07:24Z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3</vt:r8>
  </property>
</Properties>
</file>